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E41896-D0A1-7914-3683-6F7C1D559E1B}" v="13" dt="2026-01-25T10:14:26.351"/>
    <p1510:client id="{27A8C681-F5C4-E0CB-936D-056D66EB9F96}" v="64" dt="2026-01-26T23:47:55.493"/>
    <p1510:client id="{48C1D52F-E617-6AAF-32E5-B7F2BC0FA4A2}" v="14" dt="2026-01-26T14:57:28.755"/>
    <p1510:client id="{62627297-C50D-2DBF-7962-A648FA078A58}" v="699" dt="2026-01-26T14:46:09.793"/>
    <p1510:client id="{C343FE29-729C-BF2D-2FD5-8140A894117A}" v="76" dt="2026-01-25T10:10:50.7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cvsnraju@outlook.com |  https://www.linkedin.com/in/cvsnraju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cvsnraju@outlook.com |  https://www.linkedin.com/in/cvsnraju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cvsnraju@outlook.com |  https://www.linkedin.com/in/cvsnraju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cvsnraju@outlook.com |  https://www.linkedin.com/in/cvsnraju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cvsnraju@outlook.com |  https://www.linkedin.com/in/cvsnraju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cvsnraju@outlook.com |  https://www.linkedin.com/in/cvsnraju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cvsnraju@outlook.com |  https://www.linkedin.com/in/cvsnraju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cvsnraju@outlook.com |  https://www.linkedin.com/in/cvsnraju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cvsnraju@outlook.com |  https://www.linkedin.com/in/cvsnraju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cvsnraju@outlook.com |  https://www.linkedin.com/in/cvsnraju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cvsnraju@outlook.com |  https://www.linkedin.com/in/cvsnraju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 cvsnraju@outlook.com |  https://www.linkedin.com/in/cvsnraju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vsnraju/Automation-Engineer-Prep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5868B-B016-CE48-E539-40EF968A4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SRKEEC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659D1-FA90-307A-D633-F937C20C9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/>
              <a:t>Agenda</a:t>
            </a:r>
            <a:endParaRPr lang="en-US" sz="160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/>
              <a:t>❖  Intros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600"/>
            </a:br>
            <a:r>
              <a:rPr lang="en-US" sz="1600"/>
              <a:t>❖ Plan of the workshop</a:t>
            </a:r>
            <a:br>
              <a:rPr lang="en-US" sz="1600">
                <a:highlight>
                  <a:srgbClr val="FFFF00"/>
                </a:highlight>
              </a:rPr>
            </a:br>
            <a:br>
              <a:rPr lang="en-US" sz="1600">
                <a:highlight>
                  <a:srgbClr val="FFFF00"/>
                </a:highlight>
              </a:rPr>
            </a:br>
            <a:br>
              <a:rPr lang="en-US" sz="1600">
                <a:highlight>
                  <a:srgbClr val="FFFF00"/>
                </a:highlight>
              </a:rPr>
            </a:br>
            <a:br>
              <a:rPr lang="en-US" sz="1600">
                <a:highlight>
                  <a:srgbClr val="FFFF00"/>
                </a:highlight>
              </a:rPr>
            </a:br>
            <a:br>
              <a:rPr lang="en-US" sz="1600">
                <a:highlight>
                  <a:srgbClr val="FFFF00"/>
                </a:highlight>
              </a:rPr>
            </a:br>
            <a:r>
              <a:rPr lang="en-US" sz="1600" b="1"/>
              <a:t>Links</a:t>
            </a:r>
            <a:br>
              <a:rPr lang="en-US" sz="1600" b="1"/>
            </a:br>
            <a:br>
              <a:rPr lang="en-US" sz="1600" b="1"/>
            </a:br>
            <a:br>
              <a:rPr lang="en-US" sz="1600" b="1"/>
            </a:br>
            <a:r>
              <a:rPr lang="en-US" sz="1600"/>
              <a:t>❖  </a:t>
            </a:r>
            <a:r>
              <a:rPr lang="en-US" sz="1600">
                <a:ea typeface="+mn-lt"/>
                <a:cs typeface="+mn-lt"/>
                <a:hlinkClick r:id="rId2"/>
              </a:rPr>
              <a:t>https://github.com/cvsnraju/Automation-Engineer-Prep</a:t>
            </a:r>
            <a:endParaRPr lang="en-US" sz="1600"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833D2-E269-92D1-4AD6-247E2E3A5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C8E26-0E29-738E-12F7-E140C9593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4814" y="6459923"/>
            <a:ext cx="6526566" cy="165378"/>
          </a:xfrm>
        </p:spPr>
        <p:txBody>
          <a:bodyPr/>
          <a:lstStyle/>
          <a:p>
            <a:r>
              <a:rPr lang="en-US"/>
              <a:t> cvsnraju@outlook.com |  https://www.linkedin.com/in/cvsnraju</a:t>
            </a:r>
          </a:p>
        </p:txBody>
      </p:sp>
    </p:spTree>
    <p:extLst>
      <p:ext uri="{BB962C8B-B14F-4D97-AF65-F5344CB8AC3E}">
        <p14:creationId xmlns:p14="http://schemas.microsoft.com/office/powerpoint/2010/main" val="1018574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55F0A01-6A25-59BD-ECF2-CCD769B09F71}"/>
              </a:ext>
            </a:extLst>
          </p:cNvPr>
          <p:cNvSpPr txBox="1"/>
          <p:nvPr/>
        </p:nvSpPr>
        <p:spPr>
          <a:xfrm>
            <a:off x="583463" y="806857"/>
            <a:ext cx="366422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ea typeface="+mn-lt"/>
                <a:cs typeface="+mn-lt"/>
              </a:rPr>
              <a:t>Framework Implementation</a:t>
            </a:r>
          </a:p>
          <a:p>
            <a:endParaRPr lang="en-US" sz="1200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 ➔ </a:t>
            </a:r>
            <a:r>
              <a:rPr lang="en-US" sz="1200">
                <a:highlight>
                  <a:srgbClr val="FFFF00"/>
                </a:highlight>
                <a:ea typeface="+mn-lt"/>
                <a:cs typeface="+mn-lt"/>
              </a:rPr>
              <a:t>TestNG </a:t>
            </a:r>
          </a:p>
          <a:p>
            <a:r>
              <a:rPr lang="en-US" sz="1200">
                <a:ea typeface="+mn-lt"/>
                <a:cs typeface="+mn-lt"/>
              </a:rPr>
              <a:t> ➔ </a:t>
            </a:r>
            <a:r>
              <a:rPr lang="en-US" sz="1200">
                <a:highlight>
                  <a:srgbClr val="FFFF00"/>
                </a:highlight>
                <a:ea typeface="+mn-lt"/>
                <a:cs typeface="+mn-lt"/>
              </a:rPr>
              <a:t>BDD</a:t>
            </a:r>
            <a:endParaRPr lang="en-US" sz="1200"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C0E617-A985-1F8D-CB62-C4BBEA24ACEF}"/>
              </a:ext>
            </a:extLst>
          </p:cNvPr>
          <p:cNvSpPr txBox="1"/>
          <p:nvPr/>
        </p:nvSpPr>
        <p:spPr>
          <a:xfrm>
            <a:off x="2780380" y="805070"/>
            <a:ext cx="3876524" cy="43396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/>
              <a:t>TestNG</a:t>
            </a:r>
          </a:p>
          <a:p>
            <a:endParaRPr lang="en-US" sz="1200"/>
          </a:p>
          <a:p>
            <a:r>
              <a:rPr lang="en-US" sz="1200">
                <a:highlight>
                  <a:srgbClr val="FFFF00"/>
                </a:highlight>
              </a:rPr>
              <a:t>❖ Annotations </a:t>
            </a:r>
          </a:p>
          <a:p>
            <a:r>
              <a:rPr lang="en-US" sz="1200">
                <a:highlight>
                  <a:srgbClr val="FFFF00"/>
                </a:highlight>
              </a:rPr>
              <a:t>❖ Grouping </a:t>
            </a:r>
          </a:p>
          <a:p>
            <a:r>
              <a:rPr lang="en-US" sz="1200">
                <a:highlight>
                  <a:srgbClr val="FFFF00"/>
                </a:highlight>
              </a:rPr>
              <a:t>❖ Parameterization </a:t>
            </a:r>
          </a:p>
          <a:p>
            <a:r>
              <a:rPr lang="en-US" sz="1200">
                <a:highlight>
                  <a:srgbClr val="FFFF00"/>
                </a:highlight>
              </a:rPr>
              <a:t>❖ Data Providers </a:t>
            </a:r>
          </a:p>
          <a:p>
            <a:r>
              <a:rPr lang="en-US" sz="1200">
                <a:highlight>
                  <a:srgbClr val="FFFF00"/>
                </a:highlight>
              </a:rPr>
              <a:t>❖ TestNG Assertions</a:t>
            </a:r>
          </a:p>
          <a:p>
            <a:endParaRPr lang="en-US" sz="1200"/>
          </a:p>
          <a:p>
            <a:r>
              <a:rPr lang="en-US" sz="1200" b="1"/>
              <a:t>Design Patterns</a:t>
            </a:r>
            <a:br>
              <a:rPr lang="en-US" sz="1200"/>
            </a:br>
            <a:endParaRPr lang="en-US" sz="1200"/>
          </a:p>
          <a:p>
            <a:r>
              <a:rPr lang="en-US" sz="1200">
                <a:highlight>
                  <a:srgbClr val="FFFF00"/>
                </a:highlight>
              </a:rPr>
              <a:t>❖ Singleton </a:t>
            </a:r>
          </a:p>
          <a:p>
            <a:r>
              <a:rPr lang="en-US" sz="1200">
                <a:highlight>
                  <a:srgbClr val="FFFF00"/>
                </a:highlight>
              </a:rPr>
              <a:t>❖ Builder Pattern</a:t>
            </a:r>
          </a:p>
          <a:p>
            <a:endParaRPr lang="en-US" sz="1200"/>
          </a:p>
          <a:p>
            <a:r>
              <a:rPr lang="en-US" sz="1200" b="1"/>
              <a:t>BDD Cucumber &amp; Gherkin </a:t>
            </a:r>
            <a:br>
              <a:rPr lang="en-US" sz="1200"/>
            </a:br>
            <a:endParaRPr lang="en-US" sz="1200"/>
          </a:p>
          <a:p>
            <a:r>
              <a:rPr lang="en-US" sz="1200">
                <a:highlight>
                  <a:srgbClr val="FFFF00"/>
                </a:highlight>
              </a:rPr>
              <a:t>❖ Feature files </a:t>
            </a:r>
          </a:p>
          <a:p>
            <a:r>
              <a:rPr lang="en-US" sz="1200">
                <a:highlight>
                  <a:srgbClr val="FFFF00"/>
                </a:highlight>
              </a:rPr>
              <a:t>❖ Scenarios </a:t>
            </a:r>
          </a:p>
          <a:p>
            <a:r>
              <a:rPr lang="en-US" sz="1200">
                <a:highlight>
                  <a:srgbClr val="FFFF00"/>
                </a:highlight>
              </a:rPr>
              <a:t>❖ Steps, Step definitions</a:t>
            </a:r>
          </a:p>
          <a:p>
            <a:endParaRPr lang="en-US" sz="1200"/>
          </a:p>
          <a:p>
            <a:r>
              <a:rPr lang="en-US" sz="1200" b="1"/>
              <a:t>Debugging</a:t>
            </a:r>
            <a:br>
              <a:rPr lang="en-US" sz="1200"/>
            </a:br>
            <a:endParaRPr lang="en-US" sz="1200"/>
          </a:p>
          <a:p>
            <a:r>
              <a:rPr lang="en-US" sz="1200">
                <a:highlight>
                  <a:srgbClr val="FFFF00"/>
                </a:highlight>
              </a:rPr>
              <a:t>❖ Able to understand the cause for test case failures</a:t>
            </a:r>
          </a:p>
          <a:p>
            <a:pPr algn="ctr"/>
            <a:endParaRPr lang="en-US" sz="12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2A8063-F401-6172-FFA3-B864F359C641}"/>
              </a:ext>
            </a:extLst>
          </p:cNvPr>
          <p:cNvSpPr txBox="1"/>
          <p:nvPr/>
        </p:nvSpPr>
        <p:spPr>
          <a:xfrm>
            <a:off x="6658428" y="804333"/>
            <a:ext cx="399747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highlight>
                  <a:srgbClr val="00FF00"/>
                </a:highlight>
              </a:rPr>
              <a:t>Converting existing Selenium tests to TestNG</a:t>
            </a:r>
            <a:endParaRPr lang="en-US"/>
          </a:p>
          <a:p>
            <a:endParaRPr lang="en-US" sz="1200" b="1">
              <a:highlight>
                <a:srgbClr val="00FF00"/>
              </a:highlight>
            </a:endParaRPr>
          </a:p>
          <a:p>
            <a:r>
              <a:rPr lang="en-US" sz="1200" b="1">
                <a:highlight>
                  <a:srgbClr val="00FF00"/>
                </a:highlight>
              </a:rPr>
              <a:t>Implementing first BDD feature files using Cucumber</a:t>
            </a:r>
            <a:endParaRPr lang="en-US"/>
          </a:p>
          <a:p>
            <a:endParaRPr lang="en-US" sz="1200">
              <a:highlight>
                <a:srgbClr val="00FF00"/>
              </a:highlight>
            </a:endParaRPr>
          </a:p>
          <a:p>
            <a:r>
              <a:rPr lang="en-US" sz="1200" b="1">
                <a:highlight>
                  <a:srgbClr val="00FF00"/>
                </a:highlight>
              </a:rPr>
              <a:t>Debug test case failures</a:t>
            </a:r>
            <a:endParaRPr lang="en-US"/>
          </a:p>
          <a:p>
            <a:pPr algn="ctr"/>
            <a:endParaRPr lang="en-US" sz="1200">
              <a:highlight>
                <a:srgbClr val="00FF0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BC15CB-EBE3-EBC4-F413-A085A79B421B}"/>
              </a:ext>
            </a:extLst>
          </p:cNvPr>
          <p:cNvSpPr txBox="1"/>
          <p:nvPr/>
        </p:nvSpPr>
        <p:spPr>
          <a:xfrm>
            <a:off x="3586993" y="-75"/>
            <a:ext cx="387765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/>
              <a:t>#Session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B0DBC3-70E9-2281-0966-3DF7790B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26332B-7277-6A5C-5747-A8E2B7777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6548" y="6355874"/>
            <a:ext cx="5437716" cy="322792"/>
          </a:xfrm>
        </p:spPr>
        <p:txBody>
          <a:bodyPr/>
          <a:lstStyle/>
          <a:p>
            <a:r>
              <a:rPr lang="en-US"/>
              <a:t> cvsnraju@outlook.com |  https://www.linkedin.com/in/cvsnraju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92567-4A86-2271-5EC9-0A62E0A79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598AE68-3ACE-D77A-FAAA-1575C82BFDCB}"/>
              </a:ext>
            </a:extLst>
          </p:cNvPr>
          <p:cNvSpPr txBox="1"/>
          <p:nvPr/>
        </p:nvSpPr>
        <p:spPr>
          <a:xfrm>
            <a:off x="583463" y="806857"/>
            <a:ext cx="366422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ea typeface="+mn-lt"/>
                <a:cs typeface="+mn-lt"/>
              </a:rPr>
              <a:t>Tools / Topics</a:t>
            </a:r>
          </a:p>
          <a:p>
            <a:endParaRPr lang="en-US" sz="1200">
              <a:ea typeface="+mn-lt"/>
              <a:cs typeface="+mn-lt"/>
            </a:endParaRPr>
          </a:p>
          <a:p>
            <a:r>
              <a:rPr lang="en-US" sz="1200">
                <a:highlight>
                  <a:srgbClr val="FFFF00"/>
                </a:highlight>
                <a:ea typeface="+mn-lt"/>
                <a:cs typeface="+mn-lt"/>
              </a:rPr>
              <a:t> ➔ CI/ CD</a:t>
            </a:r>
          </a:p>
          <a:p>
            <a:r>
              <a:rPr lang="en-US" sz="1200">
                <a:highlight>
                  <a:srgbClr val="FFFF00"/>
                </a:highlight>
                <a:ea typeface="+mn-lt"/>
                <a:cs typeface="+mn-lt"/>
              </a:rPr>
              <a:t> ➔ Advanced Tools</a:t>
            </a:r>
            <a:endParaRPr lang="en-US"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EF6797-5A28-33D8-F5ED-8FF7FB80A01C}"/>
              </a:ext>
            </a:extLst>
          </p:cNvPr>
          <p:cNvSpPr txBox="1"/>
          <p:nvPr/>
        </p:nvSpPr>
        <p:spPr>
          <a:xfrm>
            <a:off x="2780380" y="805070"/>
            <a:ext cx="3876524" cy="27699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highlight>
                  <a:srgbClr val="FFFF00"/>
                </a:highlight>
                <a:ea typeface="+mn-lt"/>
                <a:cs typeface="+mn-lt"/>
              </a:rPr>
              <a:t>Jenkins</a:t>
            </a:r>
            <a:endParaRPr lang="en-US" b="1">
              <a:highlight>
                <a:srgbClr val="FFFF00"/>
              </a:highlight>
            </a:endParaRPr>
          </a:p>
          <a:p>
            <a:endParaRPr lang="en-US"/>
          </a:p>
          <a:p>
            <a:r>
              <a:rPr lang="en-US" sz="1200">
                <a:highlight>
                  <a:srgbClr val="FFFF00"/>
                </a:highlight>
                <a:ea typeface="+mn-lt"/>
                <a:cs typeface="+mn-lt"/>
              </a:rPr>
              <a:t>❖ </a:t>
            </a:r>
            <a:r>
              <a:rPr lang="en-US" sz="1200" b="1">
                <a:highlight>
                  <a:srgbClr val="FFFF00"/>
                </a:highlight>
                <a:ea typeface="+mn-lt"/>
                <a:cs typeface="+mn-lt"/>
              </a:rPr>
              <a:t>Setting up CI/CD pipelines</a:t>
            </a:r>
            <a:endParaRPr lang="en-US" b="1">
              <a:highlight>
                <a:srgbClr val="FFFF00"/>
              </a:highlight>
              <a:ea typeface="+mn-lt"/>
              <a:cs typeface="+mn-lt"/>
            </a:endParaRPr>
          </a:p>
          <a:p>
            <a:endParaRPr lang="en-US" sz="1200">
              <a:ea typeface="+mn-lt"/>
              <a:cs typeface="+mn-lt"/>
            </a:endParaRPr>
          </a:p>
          <a:p>
            <a:r>
              <a:rPr lang="en-US" sz="1200">
                <a:highlight>
                  <a:srgbClr val="FFFF00"/>
                </a:highlight>
                <a:ea typeface="+mn-lt"/>
                <a:cs typeface="+mn-lt"/>
              </a:rPr>
              <a:t>❖ </a:t>
            </a:r>
            <a:r>
              <a:rPr lang="en-US" sz="1200" b="1">
                <a:highlight>
                  <a:srgbClr val="FFFF00"/>
                </a:highlight>
                <a:ea typeface="+mn-lt"/>
                <a:cs typeface="+mn-lt"/>
              </a:rPr>
              <a:t>Trigger types</a:t>
            </a:r>
            <a:endParaRPr lang="en-US" b="1">
              <a:highlight>
                <a:srgbClr val="FFFF00"/>
              </a:highlight>
              <a:ea typeface="+mn-lt"/>
              <a:cs typeface="+mn-lt"/>
            </a:endParaRPr>
          </a:p>
          <a:p>
            <a:endParaRPr lang="en-US" sz="1200">
              <a:highlight>
                <a:srgbClr val="FFFF00"/>
              </a:highlight>
              <a:ea typeface="+mn-lt"/>
              <a:cs typeface="+mn-lt"/>
            </a:endParaRPr>
          </a:p>
          <a:p>
            <a:pPr lvl="1"/>
            <a:r>
              <a:rPr lang="en-US" sz="1200">
                <a:highlight>
                  <a:srgbClr val="FFFF00"/>
                </a:highlight>
                <a:ea typeface="+mn-lt"/>
                <a:cs typeface="+mn-lt"/>
              </a:rPr>
              <a:t>➢ SCM polling</a:t>
            </a:r>
            <a:endParaRPr lang="en-US">
              <a:highlight>
                <a:srgbClr val="FFFF00"/>
              </a:highlight>
              <a:ea typeface="+mn-lt"/>
              <a:cs typeface="+mn-lt"/>
            </a:endParaRPr>
          </a:p>
          <a:p>
            <a:pPr lvl="1"/>
            <a:r>
              <a:rPr lang="en-US" sz="1200">
                <a:highlight>
                  <a:srgbClr val="FFFF00"/>
                </a:highlight>
                <a:ea typeface="+mn-lt"/>
                <a:cs typeface="+mn-lt"/>
              </a:rPr>
              <a:t>➢ Webhooks </a:t>
            </a:r>
            <a:endParaRPr lang="en-US">
              <a:highlight>
                <a:srgbClr val="FFFF00"/>
              </a:highlight>
              <a:ea typeface="+mn-lt"/>
              <a:cs typeface="+mn-lt"/>
            </a:endParaRPr>
          </a:p>
          <a:p>
            <a:endParaRPr lang="en-US" sz="1200">
              <a:highlight>
                <a:srgbClr val="FFFF00"/>
              </a:highlight>
              <a:ea typeface="+mn-lt"/>
              <a:cs typeface="+mn-lt"/>
            </a:endParaRPr>
          </a:p>
          <a:p>
            <a:r>
              <a:rPr lang="en-US" sz="1200">
                <a:highlight>
                  <a:srgbClr val="FFFF00"/>
                </a:highlight>
                <a:ea typeface="+mn-lt"/>
                <a:cs typeface="+mn-lt"/>
              </a:rPr>
              <a:t>❖ </a:t>
            </a:r>
            <a:r>
              <a:rPr lang="en-US" sz="1200" b="1">
                <a:highlight>
                  <a:srgbClr val="FFFF00"/>
                </a:highlight>
                <a:ea typeface="+mn-lt"/>
                <a:cs typeface="+mn-lt"/>
              </a:rPr>
              <a:t>Debugging pipeline</a:t>
            </a:r>
            <a:endParaRPr lang="en-US" b="1">
              <a:highlight>
                <a:srgbClr val="FFFF00"/>
              </a:highlight>
              <a:ea typeface="+mn-lt"/>
              <a:cs typeface="+mn-lt"/>
            </a:endParaRPr>
          </a:p>
          <a:p>
            <a:endParaRPr lang="en-US" sz="1200">
              <a:highlight>
                <a:srgbClr val="FFFF00"/>
              </a:highlight>
              <a:ea typeface="+mn-lt"/>
              <a:cs typeface="+mn-lt"/>
            </a:endParaRPr>
          </a:p>
          <a:p>
            <a:pPr lvl="1"/>
            <a:r>
              <a:rPr lang="en-US" sz="1200">
                <a:highlight>
                  <a:srgbClr val="FFFF00"/>
                </a:highlight>
                <a:ea typeface="+mn-lt"/>
                <a:cs typeface="+mn-lt"/>
              </a:rPr>
              <a:t>➢ Failures &amp; Common issues </a:t>
            </a:r>
            <a:endParaRPr lang="en-US">
              <a:highlight>
                <a:srgbClr val="FFFF00"/>
              </a:highlight>
              <a:ea typeface="+mn-lt"/>
              <a:cs typeface="+mn-lt"/>
            </a:endParaRPr>
          </a:p>
          <a:p>
            <a:pPr lvl="1"/>
            <a:r>
              <a:rPr lang="en-US" sz="1200">
                <a:highlight>
                  <a:srgbClr val="FFFF00"/>
                </a:highlight>
                <a:ea typeface="+mn-lt"/>
                <a:cs typeface="+mn-lt"/>
              </a:rPr>
              <a:t>➢ Log analysis</a:t>
            </a:r>
            <a:endParaRPr lang="en-US">
              <a:highlight>
                <a:srgbClr val="FFFF00"/>
              </a:highlight>
            </a:endParaRPr>
          </a:p>
          <a:p>
            <a:pPr lvl="1"/>
            <a:endParaRPr lang="en-US" sz="1200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3D1AE-884E-7C58-64C9-6D4FF7497458}"/>
              </a:ext>
            </a:extLst>
          </p:cNvPr>
          <p:cNvSpPr txBox="1"/>
          <p:nvPr/>
        </p:nvSpPr>
        <p:spPr>
          <a:xfrm>
            <a:off x="6658428" y="804333"/>
            <a:ext cx="3997477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highlight>
                  <a:srgbClr val="00FF00"/>
                </a:highlight>
                <a:ea typeface="+mn-lt"/>
                <a:cs typeface="+mn-lt"/>
              </a:rPr>
              <a:t>Creating a complete automation framework (Page Object Model) using all learned tools</a:t>
            </a:r>
            <a:endParaRPr lang="en-US"/>
          </a:p>
          <a:p>
            <a:endParaRPr lang="en-US"/>
          </a:p>
          <a:p>
            <a:r>
              <a:rPr lang="en-US" sz="1200">
                <a:highlight>
                  <a:srgbClr val="00FF00"/>
                </a:highlight>
                <a:ea typeface="+mn-lt"/>
                <a:cs typeface="+mn-lt"/>
              </a:rPr>
              <a:t>Setting up and running tests on Jenkins</a:t>
            </a:r>
            <a:endParaRPr lang="en-US"/>
          </a:p>
          <a:p>
            <a:endParaRPr lang="en-US"/>
          </a:p>
          <a:p>
            <a:r>
              <a:rPr lang="en-US" sz="1200">
                <a:highlight>
                  <a:srgbClr val="00FF00"/>
                </a:highlight>
                <a:ea typeface="+mn-lt"/>
                <a:cs typeface="+mn-lt"/>
              </a:rPr>
              <a:t>Analyzing and fixing a failed test case.</a:t>
            </a:r>
            <a:endParaRPr lang="en-US"/>
          </a:p>
          <a:p>
            <a:pPr algn="ctr"/>
            <a:endParaRPr lang="en-US" sz="1200">
              <a:highlight>
                <a:srgbClr val="00FF0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60F986-B38B-0DCA-C0C0-1DD0C6DE1C05}"/>
              </a:ext>
            </a:extLst>
          </p:cNvPr>
          <p:cNvSpPr txBox="1"/>
          <p:nvPr/>
        </p:nvSpPr>
        <p:spPr>
          <a:xfrm>
            <a:off x="3330912" y="-76"/>
            <a:ext cx="429694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/>
              <a:t>#Session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60DD1A-B2AD-95CD-87BA-EA4E3649D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925176-E6BC-CB1C-5A08-CAE7C6B0E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70781" y="6407721"/>
            <a:ext cx="5287765" cy="262384"/>
          </a:xfrm>
        </p:spPr>
        <p:txBody>
          <a:bodyPr/>
          <a:lstStyle/>
          <a:p>
            <a:r>
              <a:rPr lang="en-US"/>
              <a:t> cvsnraju@outlook.com |  https://www.linkedin.com/in/cvsnraju</a:t>
            </a:r>
          </a:p>
        </p:txBody>
      </p:sp>
    </p:spTree>
    <p:extLst>
      <p:ext uri="{BB962C8B-B14F-4D97-AF65-F5344CB8AC3E}">
        <p14:creationId xmlns:p14="http://schemas.microsoft.com/office/powerpoint/2010/main" val="882896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029C4-E27E-6D6E-A6AA-9C939C4B9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60884B6-1345-5D8A-E19A-18895E760714}"/>
              </a:ext>
            </a:extLst>
          </p:cNvPr>
          <p:cNvSpPr txBox="1"/>
          <p:nvPr/>
        </p:nvSpPr>
        <p:spPr>
          <a:xfrm>
            <a:off x="4806332" y="1363136"/>
            <a:ext cx="1898356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 </a:t>
            </a:r>
            <a:r>
              <a:rPr lang="en-US" sz="1600" b="1"/>
              <a:t>Q &amp; A Session</a:t>
            </a:r>
            <a:br>
              <a:rPr lang="en-US" sz="1600" b="1"/>
            </a:br>
            <a:br>
              <a:rPr lang="en-US" sz="1600" b="1"/>
            </a:br>
            <a:br>
              <a:rPr lang="en-US" sz="1600" b="1"/>
            </a:br>
            <a:br>
              <a:rPr lang="en-US" sz="1600" b="1"/>
            </a:br>
            <a:endParaRPr lang="en-US" sz="16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2D401E-9877-BA3B-70FB-F16061CFB2C3}"/>
              </a:ext>
            </a:extLst>
          </p:cNvPr>
          <p:cNvSpPr txBox="1"/>
          <p:nvPr/>
        </p:nvSpPr>
        <p:spPr>
          <a:xfrm>
            <a:off x="3870306" y="-76"/>
            <a:ext cx="355206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/>
              <a:t>#Session 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1C4663-0205-5430-51A9-434986A24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AACC17-BF58-3096-6C19-7F8354C1D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1117" y="6356350"/>
            <a:ext cx="6221002" cy="245260"/>
          </a:xfrm>
        </p:spPr>
        <p:txBody>
          <a:bodyPr/>
          <a:lstStyle/>
          <a:p>
            <a:r>
              <a:rPr lang="en-US"/>
              <a:t> cvsnraju@outlook.com |  https://www.linkedin.com/in/cvsnraju</a:t>
            </a:r>
          </a:p>
        </p:txBody>
      </p:sp>
    </p:spTree>
    <p:extLst>
      <p:ext uri="{BB962C8B-B14F-4D97-AF65-F5344CB8AC3E}">
        <p14:creationId xmlns:p14="http://schemas.microsoft.com/office/powerpoint/2010/main" val="2695354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SRKEEC Workshop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2026-01-25T10:02:26Z</dcterms:created>
  <dcterms:modified xsi:type="dcterms:W3CDTF">2026-01-27T15:55:23Z</dcterms:modified>
</cp:coreProperties>
</file>